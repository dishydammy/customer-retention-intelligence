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0246a242f24ce7" /><Relationship Type="http://schemas.openxmlformats.org/officeDocument/2006/relationships/extended-properties" Target="/docProps/app.xml" Id="R2eb5ae39a5a04f18" /><Relationship Type="http://schemas.openxmlformats.org/officeDocument/2006/relationships/officeDocument" Target="/ppt/presentation.xml" Id="Rd1d0e3de6ac246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16ede3406c421c"/>
  </p:sldMasterIdLst>
  <p:notesMasterIdLst>
    <p:notesMasterId xmlns:r="http://schemas.openxmlformats.org/officeDocument/2006/relationships" r:id="R9b7a686f8cd04af8"/>
  </p:notesMasterIdLst>
  <p:sldIdLst>
    <p:sldId xmlns:r="http://schemas.openxmlformats.org/officeDocument/2006/relationships" id="256" r:id="R7f9a1336c2a34d70"/>
    <p:sldId xmlns:r="http://schemas.openxmlformats.org/officeDocument/2006/relationships" id="257" r:id="Rc99c7d16060043e9"/>
    <p:sldId xmlns:r="http://schemas.openxmlformats.org/officeDocument/2006/relationships" id="258" r:id="R64298c3a5e1a424e"/>
    <p:sldId xmlns:r="http://schemas.openxmlformats.org/officeDocument/2006/relationships" id="259" r:id="R6da0834dc3ba4c9c"/>
    <p:sldId xmlns:r="http://schemas.openxmlformats.org/officeDocument/2006/relationships" id="260" r:id="R804fd8a6119947f1"/>
    <p:sldId xmlns:r="http://schemas.openxmlformats.org/officeDocument/2006/relationships" id="261" r:id="Rc89d89ab53ac48f2"/>
    <p:sldId xmlns:r="http://schemas.openxmlformats.org/officeDocument/2006/relationships" id="262" r:id="R29874d8a6fcf4cfd"/>
    <p:sldId xmlns:r="http://schemas.openxmlformats.org/officeDocument/2006/relationships" id="263" r:id="R6f1c39f72c1c4299"/>
    <p:sldId xmlns:r="http://schemas.openxmlformats.org/officeDocument/2006/relationships" id="264" r:id="R3118680c2f0a4051"/>
    <p:sldId xmlns:r="http://schemas.openxmlformats.org/officeDocument/2006/relationships" id="265" r:id="Rc359be3c873741c6"/>
    <p:sldId xmlns:r="http://schemas.openxmlformats.org/officeDocument/2006/relationships" id="266" r:id="R00d950d37d9a40a1"/>
    <p:sldId xmlns:r="http://schemas.openxmlformats.org/officeDocument/2006/relationships" id="267" r:id="R95aced57afcd4bc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6ede3406c421c" /><Relationship Type="http://schemas.openxmlformats.org/officeDocument/2006/relationships/theme" Target="/ppt/theme/theme1.xml" Id="R921096e90c92448e" /><Relationship Type="http://schemas.openxmlformats.org/officeDocument/2006/relationships/notesMaster" Target="/ppt/notesMasters/notesMaster1.xml" Id="R9b7a686f8cd04af8" /><Relationship Type="http://schemas.openxmlformats.org/officeDocument/2006/relationships/presProps" Target="/ppt/presProps.xml" Id="R428b56147c1340dc" /><Relationship Type="http://schemas.openxmlformats.org/officeDocument/2006/relationships/viewProps" Target="/ppt/viewProps.xml" Id="Rbfa8442ac87844c3" /><Relationship Type="http://schemas.openxmlformats.org/officeDocument/2006/relationships/tableStyles" Target="/ppt/tableStyles.xml" Id="R3137e56a28154914" /><Relationship Type="http://schemas.openxmlformats.org/officeDocument/2006/relationships/slide" Target="/ppt/slides/slide1.xml" Id="R7f9a1336c2a34d70" /><Relationship Type="http://schemas.openxmlformats.org/officeDocument/2006/relationships/slide" Target="/ppt/slides/slide2.xml" Id="Rc99c7d16060043e9" /><Relationship Type="http://schemas.openxmlformats.org/officeDocument/2006/relationships/slide" Target="/ppt/slides/slide3.xml" Id="R64298c3a5e1a424e" /><Relationship Type="http://schemas.openxmlformats.org/officeDocument/2006/relationships/slide" Target="/ppt/slides/slide4.xml" Id="R6da0834dc3ba4c9c" /><Relationship Type="http://schemas.openxmlformats.org/officeDocument/2006/relationships/slide" Target="/ppt/slides/slide5.xml" Id="R804fd8a6119947f1" /><Relationship Type="http://schemas.openxmlformats.org/officeDocument/2006/relationships/slide" Target="/ppt/slides/slide6.xml" Id="Rc89d89ab53ac48f2" /><Relationship Type="http://schemas.openxmlformats.org/officeDocument/2006/relationships/slide" Target="/ppt/slides/slide7.xml" Id="R29874d8a6fcf4cfd" /><Relationship Type="http://schemas.openxmlformats.org/officeDocument/2006/relationships/slide" Target="/ppt/slides/slide8.xml" Id="R6f1c39f72c1c4299" /><Relationship Type="http://schemas.openxmlformats.org/officeDocument/2006/relationships/slide" Target="/ppt/slides/slide9.xml" Id="R3118680c2f0a4051" /><Relationship Type="http://schemas.openxmlformats.org/officeDocument/2006/relationships/slide" Target="/ppt/slides/slide10.xml" Id="Rc359be3c873741c6" /><Relationship Type="http://schemas.openxmlformats.org/officeDocument/2006/relationships/slide" Target="/ppt/slides/slide11.xml" Id="R00d950d37d9a40a1" /><Relationship Type="http://schemas.openxmlformats.org/officeDocument/2006/relationships/slide" Target="/ppt/slides/slide12.xml" Id="R95aced57afcd4b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3800051805e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06eb85d8454990" /><Relationship Type="http://schemas.openxmlformats.org/officeDocument/2006/relationships/notesMaster" Target="/ppt/notesMasters/notesMaster1.xml" Id="R1e72b7405f4a4e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dff91c955245b2" /><Relationship Type="http://schemas.openxmlformats.org/officeDocument/2006/relationships/notesMaster" Target="/ppt/notesMasters/notesMaster1.xml" Id="Rfb8129d7871946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5f649863154865" /><Relationship Type="http://schemas.openxmlformats.org/officeDocument/2006/relationships/notesMaster" Target="/ppt/notesMasters/notesMaster1.xml" Id="Ra5e2b9589bf34b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5fc6bbe52e4de9" /><Relationship Type="http://schemas.openxmlformats.org/officeDocument/2006/relationships/notesMaster" Target="/ppt/notesMasters/notesMaster1.xml" Id="Ra42b9d970ff64f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e7539e092048c0" /><Relationship Type="http://schemas.openxmlformats.org/officeDocument/2006/relationships/notesMaster" Target="/ppt/notesMasters/notesMaster1.xml" Id="R9cb5891d612246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f2910ac83b4a25" /><Relationship Type="http://schemas.openxmlformats.org/officeDocument/2006/relationships/notesMaster" Target="/ppt/notesMasters/notesMaster1.xml" Id="R54302197d74e47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acd14da7c1420c" /><Relationship Type="http://schemas.openxmlformats.org/officeDocument/2006/relationships/notesMaster" Target="/ppt/notesMasters/notesMaster1.xml" Id="R7d1aea4ea1e14a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14e3dbf43b43ee" /><Relationship Type="http://schemas.openxmlformats.org/officeDocument/2006/relationships/notesMaster" Target="/ppt/notesMasters/notesMaster1.xml" Id="R6931e3b6e92241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fdc1ca0e0b41cb" /><Relationship Type="http://schemas.openxmlformats.org/officeDocument/2006/relationships/notesMaster" Target="/ppt/notesMasters/notesMaster1.xml" Id="R6834db198ae444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ab3ede160a48a2" /><Relationship Type="http://schemas.openxmlformats.org/officeDocument/2006/relationships/notesMaster" Target="/ppt/notesMasters/notesMaster1.xml" Id="R3c23c0d6e49146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50949b989a4b59" /><Relationship Type="http://schemas.openxmlformats.org/officeDocument/2006/relationships/notesMaster" Target="/ppt/notesMasters/notesMaster1.xml" Id="Read263551f6748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85921782d742fe" /><Relationship Type="http://schemas.openxmlformats.org/officeDocument/2006/relationships/notesMaster" Target="/ppt/notesMasters/notesMaster1.xml" Id="Rbc2c8e0b987c40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357a276e8439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772160ee80244d2" /><Relationship Type="http://schemas.openxmlformats.org/officeDocument/2006/relationships/slideLayout" Target="/ppt/slideLayouts/slideLayout2.xml" Id="R79a4032269e249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a4032269e249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0443edc6cc4d65" /><Relationship Type="http://schemas.openxmlformats.org/officeDocument/2006/relationships/notesSlide" Target="/ppt/notesSlides/notesSlide1.xml" Id="Rd6cce22737ca49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a7fd4280634775" /><Relationship Type="http://schemas.openxmlformats.org/officeDocument/2006/relationships/chart" Target="/ppt/slides/charts/chart1.xml" Id="Rb49c215ae47547ee" /><Relationship Type="http://schemas.openxmlformats.org/officeDocument/2006/relationships/notesSlide" Target="/ppt/notesSlides/notesSlide2.xml" Id="R8d501b9b6bb04d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6d4b08f9db48ff" /><Relationship Type="http://schemas.openxmlformats.org/officeDocument/2006/relationships/image" Target="/ppt/media/image.png" Id="Rfed5b25588e143f0" /><Relationship Type="http://schemas.openxmlformats.org/officeDocument/2006/relationships/notesSlide" Target="/ppt/notesSlides/notesSlide3.xml" Id="R573ff7b9d43e45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fdfdaf930b4393" /><Relationship Type="http://schemas.openxmlformats.org/officeDocument/2006/relationships/image" Target="/ppt/media/image2.png" Id="R9a466f297c594afd" /><Relationship Type="http://schemas.openxmlformats.org/officeDocument/2006/relationships/image" Target="/ppt/media/image3.png" Id="R3a767dbb38614269" /><Relationship Type="http://schemas.openxmlformats.org/officeDocument/2006/relationships/notesSlide" Target="/ppt/notesSlides/notesSlide4.xml" Id="R4e3e8981cfac49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c13ffcd93743f6" /><Relationship Type="http://schemas.openxmlformats.org/officeDocument/2006/relationships/image" Target="/ppt/media/image4.png" Id="Ra2db3698853b4c98" /><Relationship Type="http://schemas.openxmlformats.org/officeDocument/2006/relationships/notesSlide" Target="/ppt/notesSlides/notesSlide5.xml" Id="R43ce5cd7642a46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46eebf61914677" /><Relationship Type="http://schemas.openxmlformats.org/officeDocument/2006/relationships/image" Target="/ppt/media/image5.png" Id="Re03f79ee7ed24d53" /><Relationship Type="http://schemas.openxmlformats.org/officeDocument/2006/relationships/image" Target="/ppt/media/image6.png" Id="Ree52d45dd7c344d5" /><Relationship Type="http://schemas.openxmlformats.org/officeDocument/2006/relationships/notesSlide" Target="/ppt/notesSlides/notesSlide6.xml" Id="R4e6728d2ab3540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3dca1185ad47b0" /><Relationship Type="http://schemas.openxmlformats.org/officeDocument/2006/relationships/image" Target="/ppt/media/image7.png" Id="R69833bdb6d074cd1" /><Relationship Type="http://schemas.openxmlformats.org/officeDocument/2006/relationships/notesSlide" Target="/ppt/notesSlides/notesSlide7.xml" Id="R02923d11892746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4c1b3e3d8d43bf" /><Relationship Type="http://schemas.openxmlformats.org/officeDocument/2006/relationships/image" Target="/ppt/media/image8.png" Id="Rcbee96a89ad649a4" /><Relationship Type="http://schemas.openxmlformats.org/officeDocument/2006/relationships/image" Target="/ppt/media/image9.png" Id="R64073eddb91b4fdc" /><Relationship Type="http://schemas.openxmlformats.org/officeDocument/2006/relationships/notesSlide" Target="/ppt/notesSlides/notesSlide8.xml" Id="Re47caba5089f41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8df86d32664f88" /><Relationship Type="http://schemas.openxmlformats.org/officeDocument/2006/relationships/image" Target="/ppt/media/image10.png" Id="Rcbe041d5bb214811" /><Relationship Type="http://schemas.openxmlformats.org/officeDocument/2006/relationships/notesSlide" Target="/ppt/notesSlides/notesSlide9.xml" Id="R553f2b7b0d1f4b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ad5462c4b34c79" /><Relationship Type="http://schemas.openxmlformats.org/officeDocument/2006/relationships/notesSlide" Target="/ppt/notesSlides/notesSlide10.xml" Id="Raeadec55d31141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79f529b24b4cc2" /><Relationship Type="http://schemas.openxmlformats.org/officeDocument/2006/relationships/notesSlide" Target="/ppt/notesSlides/notesSlide11.xml" Id="Rd3ac3b3ee5ff4d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a109aae497448a" /><Relationship Type="http://schemas.openxmlformats.org/officeDocument/2006/relationships/notesSlide" Target="/ppt/notesSlides/notesSlide12.xml" Id="R6d4a30fb30224b32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Estimated Revenue Pool by Segment ($M)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Revenue pool ($M)</c:v>
          </c:tx>
          <c:cat>
            <c:strLit>
              <c:ptCount val="4"/>
              <c:pt idx="0">
                <c:v>Champions</c:v>
              </c:pt>
              <c:pt idx="1">
                <c:v>Loyal Base</c:v>
              </c:pt>
              <c:pt idx="2">
                <c:v>Lost/Inactive</c:v>
              </c:pt>
              <c:pt idx="3">
                <c:v>Potential Loyals</c:v>
              </c:pt>
            </c:strLit>
          </c:cat>
          <c:val>
            <c:numLit>
              <c:formatCode/>
              <c:ptCount val="4"/>
              <c:pt idx="0">
                <c:v>4.54</c:v>
              </c:pt>
              <c:pt idx="1">
                <c:v>1.82</c:v>
              </c:pt>
              <c:pt idx="2">
                <c:v>0.48</c:v>
              </c:pt>
              <c:pt idx="3">
                <c:v>0.4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7460C63-0F28-4F1C-A5E6-CD7A1386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60388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22033"/>
                </a:solidFill>
              </a:defRPr>
            </a:pPr>
            <a:r>
              <a:rPr sz="4950" b="1">
                <a:solidFill>
                  <a:srgbClr val="122033"/>
                </a:solidFill>
              </a:rPr>
              <a:t>Customer Retention Intelligence</a:t>
            </a:r>
          </a:p>
        </p:txBody>
      </p:sp>
      <p:sp>
        <p:nvSpPr>
          <p:cNvPr id="2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0BA98AF2-F67B-43CF-BDD2-FCB9A6B6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85800"/>
            <a:ext cx="674370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0" b="1">
                <a:solidFill>
                  <a:srgbClr val="176B87"/>
                </a:solidFill>
              </a:defRPr>
            </a:pPr>
            <a:r>
              <a:rPr sz="12000" b="1">
                <a:solidFill>
                  <a:srgbClr val="176B87"/>
                </a:solidFill>
              </a:rPr>
              <a:t>74.6%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D784C49-A29D-4C41-B7A9-424F3AF4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78295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73"/>
                </a:solidFill>
              </a:defRPr>
            </a:pPr>
            <a:r>
              <a:rPr sz="2100">
                <a:solidFill>
                  <a:srgbClr val="526173"/>
                </a:solidFill>
              </a:rPr>
              <a:t>Business strategy, segmentation, churn scoring, and commercial recommendations drawn from the project notebooks and retained analysis outputs.</a:t>
            </a:r>
          </a:p>
        </p:txBody>
      </p:sp>
      <p:sp>
        <p:nvSpPr>
          <p:cNvPr id="4" name="cover-proof">
            <a:extLst xmlns:a="http://schemas.openxmlformats.org/drawingml/2006/main">
              <a:ext uri="{FF2B5EF4-FFF2-40B4-BE49-F238E27FC236}">
                <a16:creationId xmlns:a16="http://schemas.microsoft.com/office/drawing/2014/main" id="{D57711B8-7C35-493F-B070-2BAEE629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124200"/>
            <a:ext cx="52387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22033"/>
                </a:solidFill>
              </a:defRPr>
            </a:pPr>
            <a:r>
              <a:rPr sz="2100">
                <a:solidFill>
                  <a:srgbClr val="122033"/>
                </a:solidFill>
              </a:rPr>
              <a:t>of revenue comes from the top 20% of customers, which makes retention precision more valuable than broad discounting.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237F6-773A-4EA1-AC28-94594348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EEE4B-1A71-4AA2-9F64-BBD49663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4533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033"/>
                </a:solidFill>
              </a:defRPr>
            </a:pPr>
            <a:r>
              <a:rPr sz="4050" b="1">
                <a:solidFill>
                  <a:srgbClr val="122033"/>
                </a:solidFill>
              </a:rPr>
              <a:t>3,917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FA385-5827-450C-A399-8D7CBAC7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453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customers profiled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60DF2-5EA6-428D-98C7-85368052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76750"/>
            <a:ext cx="4533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033"/>
                </a:solidFill>
              </a:defRPr>
            </a:pPr>
            <a:r>
              <a:rPr sz="4050" b="1">
                <a:solidFill>
                  <a:srgbClr val="122033"/>
                </a:solidFill>
              </a:rPr>
              <a:t>$8.88M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97ECC-A0E8-432A-BC1B-359207EB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43500"/>
            <a:ext cx="453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known-customer revenue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0FAB5-5843-441B-BC89-403317C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4533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033"/>
                </a:solidFill>
              </a:defRPr>
            </a:pPr>
            <a:r>
              <a:rPr sz="4050" b="1">
                <a:solidFill>
                  <a:srgbClr val="122033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E6289-2973-4E5B-A108-FFA61FAB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453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operational customer clusters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71ABC-8215-4C97-8BEB-83104EEE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543550"/>
            <a:ext cx="4533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033"/>
                </a:solidFill>
              </a:defRPr>
            </a:pPr>
            <a:r>
              <a:rPr sz="4050" b="1">
                <a:solidFill>
                  <a:srgbClr val="122033"/>
                </a:solidFill>
              </a:rPr>
              <a:t>0.713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43667-440A-4319-864C-118B9F85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229350"/>
            <a:ext cx="453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final churn ROC-AUC</a:t>
            </a:r>
          </a:p>
        </p:txBody>
      </p:sp>
    </p:spTree>
    <p:extLst>
      <p:ext uri="{BB962C8B-B14F-4D97-AF65-F5344CB8AC3E}">
        <p14:creationId xmlns:p14="http://schemas.microsoft.com/office/powerpoint/2010/main" val="4298274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6F0F19-19ED-4F92-8565-E4005045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5029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Executive Summary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5D2775-AB87-48B1-B39F-909A9120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3830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3"/>
                </a:solidFill>
              </a:defRPr>
            </a:pPr>
            <a:r>
              <a:rPr sz="1800">
                <a:solidFill>
                  <a:srgbClr val="526173"/>
                </a:solidFill>
              </a:rPr>
              <a:t>The analysis points to a concentrated customer base, fast early retention decay, and a need to prioritize high-value retention over broad win-back spending.</a:t>
            </a:r>
          </a:p>
        </p:txBody>
      </p:sp>
      <p:sp>
        <p:nvSpPr>
          <p:cNvPr id="3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FDF54B02-824C-4958-BF76-25B7992A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8515350" cy="466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Top-customer concentration is high: the top 20% of customers generate 74.64% of revenue, so account protection should be a board-level KPI.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Revenue seasonality is visible, with a strong run-up from September to November; retention and upsell campaigns should be staged before the peak, not during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The largest segment is Lost/Inactive, but the biggest value pool sits inside Champions and Loyal Base, so intervention budgets should skew toward preservation and expansion.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Cohort retention drops sharply after the first purchase month, which means second-order activation and early repeat behavior are the highest-leverage lifecycle moments.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The churn model is useful for prioritization rather than automation. It is good enough to rank outreach and save-costs, but still needs monitored business rules.</a:t>
            </a:r>
          </a:p>
        </p:txBody>
      </p:sp>
      <p:graphicFrame>
        <p:nvGraphicFramePr>
          <p:cNvPr id="4" name="segment-value-pool-chart"/>
          <p:cNvGraphicFramePr/>
          <p:nvPr/>
        </p:nvGraphicFramePr>
        <p:xfrm>
          <a:off xmlns:a="http://schemas.openxmlformats.org/drawingml/2006/main" x="9662160" y="2103120"/>
          <a:ext xmlns:a="http://schemas.openxmlformats.org/drawingml/2006/main" cx="7863840" cy="730377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9c215ae47547ee"/>
          </a:graphicData>
        </a:graphic>
      </p:graphicFrame>
      <p:sp>
        <p:nvSpPr>
          <p:cNvPr id="5" name="source-rail">
            <a:extLst xmlns:a="http://schemas.openxmlformats.org/drawingml/2006/main">
              <a:ext uri="{FF2B5EF4-FFF2-40B4-BE49-F238E27FC236}">
                <a16:creationId xmlns:a16="http://schemas.microsoft.com/office/drawing/2014/main" id="{A76DBA4C-5905-4189-BBBD-2C9DC696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821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3"/>
                </a:solidFill>
              </a:defRPr>
            </a:pPr>
            <a:r>
              <a:rPr sz="900">
                <a:solidFill>
                  <a:srgbClr val="526173"/>
                </a:solidFill>
              </a:rPr>
              <a:t>Source: eda.ipynb, rfm_analysis.ipynb, Segmentation.ipynb, churn_prediction.ipynb</a:t>
            </a:r>
          </a:p>
        </p:txBody>
      </p:sp>
    </p:spTree>
    <p:extLst>
      <p:ext uri="{BB962C8B-B14F-4D97-AF65-F5344CB8AC3E}">
        <p14:creationId xmlns:p14="http://schemas.microsoft.com/office/powerpoint/2010/main" val="9954080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41B9AF-B5BB-4ACB-9A7B-434668B0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28016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Commercial Footprint and Revenue Concentration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7B376F-BF0B-4766-A4F9-F8C28C55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3506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3"/>
                </a:solidFill>
              </a:defRPr>
            </a:pPr>
            <a:r>
              <a:rPr sz="1800">
                <a:solidFill>
                  <a:srgbClr val="526173"/>
                </a:solidFill>
              </a:rPr>
              <a:t>The customer base is geographically broad, but commercially concentrated. That combination favors targeted retention motions and strong key-account discipline.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C89C8-B79B-4331-99C1-3CE284D2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6896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033"/>
                </a:solidFill>
              </a:defRPr>
            </a:pPr>
            <a:r>
              <a:rPr sz="4050" b="1">
                <a:solidFill>
                  <a:srgbClr val="122033"/>
                </a:solidFill>
              </a:rPr>
              <a:t>$8.88M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0C55C-AB70-46C9-B955-A4BD71A5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known-customer revenue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554E8-127E-46F3-811D-951E7AAC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6896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033"/>
                </a:solidFill>
              </a:defRPr>
            </a:pPr>
            <a:r>
              <a:rPr sz="4050" b="1">
                <a:solidFill>
                  <a:srgbClr val="122033"/>
                </a:solidFill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1A27E-63D3-48EC-9B2F-CB704B03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countries represented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2FF07-AFEF-4569-9293-F4D28957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6896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6B87"/>
                </a:solidFill>
              </a:defRPr>
            </a:pPr>
            <a:r>
              <a:rPr sz="4050" b="1">
                <a:solidFill>
                  <a:srgbClr val="176B87"/>
                </a:solidFill>
              </a:rPr>
              <a:t>90.08%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175A1-0D57-4BE3-AB5B-748E663A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share of orders from the UK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8E085-F276-440E-8F66-9992B19D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6896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B7791F"/>
                </a:solidFill>
              </a:defRPr>
            </a:pPr>
            <a:r>
              <a:rPr sz="4050" b="1">
                <a:solidFill>
                  <a:srgbClr val="B7791F"/>
                </a:solidFill>
              </a:rPr>
              <a:t>74.64%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7B0CF-C39C-4B9F-9BEA-02C958D1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revenue contribution from the top 20% of customers</a:t>
            </a:r>
          </a:p>
        </p:txBody>
      </p:sp>
      <p:sp>
        <p:nvSpPr>
          <p:cNvPr id="11" name="footprint-notes">
            <a:extLst xmlns:a="http://schemas.openxmlformats.org/drawingml/2006/main">
              <a:ext uri="{FF2B5EF4-FFF2-40B4-BE49-F238E27FC236}">
                <a16:creationId xmlns:a16="http://schemas.microsoft.com/office/drawing/2014/main" id="{A492046E-B97C-4A5B-877A-30F73081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68961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• The UK remains the operating core, which makes domestic lifecycle optimization the fastest path to measurable impact.</a:t>
            </a:r>
          </a:p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• International demand exists, but order density is low enough that the first commercial focus should stay on the domestic base.</a:t>
            </a:r>
          </a:p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• Top-customer dependency means a small amount of churn among major accounts can wipe out gains from broad acquisition activity.</a:t>
            </a:r>
          </a:p>
        </p:txBody>
      </p:sp>
      <p:pic>
        <p:nvPicPr>
          <p:cNvPr id="12" name="monthly-revenue-tre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5b25588e143f0"/>
          <a:stretch xmlns:a="http://schemas.openxmlformats.org/drawingml/2006/main"/>
        </p:blipFill>
        <p:spPr>
          <a:xfrm xmlns:a="http://schemas.openxmlformats.org/drawingml/2006/main">
            <a:off x="7990713" y="4185682"/>
            <a:ext cx="9535287" cy="3973036"/>
          </a:xfrm>
          <a:prstGeom xmlns:a="http://schemas.openxmlformats.org/drawingml/2006/main" prst="rect">
            <a:avLst/>
          </a:prstGeom>
        </p:spPr>
      </p:pic>
      <p:sp>
        <p:nvSpPr>
          <p:cNvPr id="13" name="source-rail">
            <a:extLst xmlns:a="http://schemas.openxmlformats.org/drawingml/2006/main">
              <a:ext uri="{FF2B5EF4-FFF2-40B4-BE49-F238E27FC236}">
                <a16:creationId xmlns:a16="http://schemas.microsoft.com/office/drawing/2014/main" id="{F98D40B4-4E65-432A-9C21-D571550C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821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3"/>
                </a:solidFill>
              </a:defRPr>
            </a:pPr>
            <a:r>
              <a:rPr sz="900">
                <a:solidFill>
                  <a:srgbClr val="526173"/>
                </a:solidFill>
              </a:rPr>
              <a:t>Source: eda.ipynb, reports/figures/monthly_revenue_trend.png</a:t>
            </a:r>
          </a:p>
        </p:txBody>
      </p:sp>
    </p:spTree>
    <p:extLst>
      <p:ext uri="{BB962C8B-B14F-4D97-AF65-F5344CB8AC3E}">
        <p14:creationId xmlns:p14="http://schemas.microsoft.com/office/powerpoint/2010/main" val="8491072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DAE51E-EA58-4899-8DC3-1E2D2F06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9963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Demand Rhythm and Campaign Timing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3F118C-4590-41FF-BA5B-AC553994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3582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3"/>
                </a:solidFill>
              </a:defRPr>
            </a:pPr>
            <a:r>
              <a:rPr sz="1800">
                <a:solidFill>
                  <a:srgbClr val="526173"/>
                </a:solidFill>
              </a:rPr>
              <a:t>Ordering behavior is not flat through the week or the day. The operation already has natural engagement windows that marketing and CRM should exploit.</a:t>
            </a:r>
          </a:p>
        </p:txBody>
      </p:sp>
      <p:sp>
        <p:nvSpPr>
          <p:cNvPr id="3" name="timing-bullets">
            <a:extLst xmlns:a="http://schemas.openxmlformats.org/drawingml/2006/main">
              <a:ext uri="{FF2B5EF4-FFF2-40B4-BE49-F238E27FC236}">
                <a16:creationId xmlns:a16="http://schemas.microsoft.com/office/drawing/2014/main" id="{DFC98711-C362-4088-8802-C0703FA6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8534400" cy="38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Thursday is the strongest ordering day, followed by Wednesday and Tuesday, so midweek outbound campaigns should receive priority inventory and creative attention.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The order peak lands between 10:00 and 14:00, with 12:00 as the highest-volume hour. Time-sensitive nudges should align to that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The seasonal peak begins building in September and crests in November. That argues for pre-peak reactivation, replenishment, and loyalty messaging in late summer.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Because weekend demand is structurally weaker, discount-led weekend pushes should be used selectively and only when stock or campaign objectives justify them.</a:t>
            </a:r>
          </a:p>
        </p:txBody>
      </p:sp>
      <p:pic>
        <p:nvPicPr>
          <p:cNvPr id="4" name="day-of-week-tre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66f297c594afd"/>
          <a:stretch xmlns:a="http://schemas.openxmlformats.org/drawingml/2006/main"/>
        </p:blipFill>
        <p:spPr>
          <a:xfrm xmlns:a="http://schemas.openxmlformats.org/drawingml/2006/main">
            <a:off x="10727436" y="210312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5" name="hour-of-day-tre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67dbb38614269"/>
          <a:stretch xmlns:a="http://schemas.openxmlformats.org/drawingml/2006/main"/>
        </p:blipFill>
        <p:spPr>
          <a:xfrm xmlns:a="http://schemas.openxmlformats.org/drawingml/2006/main">
            <a:off x="10727436" y="5132070"/>
            <a:ext cx="571500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source-rail">
            <a:extLst xmlns:a="http://schemas.openxmlformats.org/drawingml/2006/main">
              <a:ext uri="{FF2B5EF4-FFF2-40B4-BE49-F238E27FC236}">
                <a16:creationId xmlns:a16="http://schemas.microsoft.com/office/drawing/2014/main" id="{926C575D-2FA5-43E9-A7F1-ACAFCEA3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821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3"/>
                </a:solidFill>
              </a:defRPr>
            </a:pPr>
            <a:r>
              <a:rPr sz="900">
                <a:solidFill>
                  <a:srgbClr val="526173"/>
                </a:solidFill>
              </a:rPr>
              <a:t>Source: eda.ipynb, reports/figures/day_of_week_trend.png, reports/figures/hour_of_day_trend.png</a:t>
            </a:r>
          </a:p>
        </p:txBody>
      </p:sp>
    </p:spTree>
    <p:extLst>
      <p:ext uri="{BB962C8B-B14F-4D97-AF65-F5344CB8AC3E}">
        <p14:creationId xmlns:p14="http://schemas.microsoft.com/office/powerpoint/2010/main" val="8970681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B4EA9D-8904-4AAF-A849-E37E3538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439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Retention Is Won in the First Few Months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6153F1-3854-4FE2-A45C-09212671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3868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3"/>
                </a:solidFill>
              </a:defRPr>
            </a:pPr>
            <a:r>
              <a:rPr sz="1800">
                <a:solidFill>
                  <a:srgbClr val="526173"/>
                </a:solidFill>
              </a:rPr>
              <a:t>The cohort heatmap shows sharp early drop-off and uneven long-run retention, which means first-to-second purchase conversion is the most important lifecycle moment to improve.</a:t>
            </a:r>
          </a:p>
        </p:txBody>
      </p:sp>
      <p:pic>
        <p:nvPicPr>
          <p:cNvPr id="3" name="cohort-retention-heatm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b3698853b4c98"/>
          <a:stretch xmlns:a="http://schemas.openxmlformats.org/drawingml/2006/main"/>
        </p:blipFill>
        <p:spPr>
          <a:xfrm xmlns:a="http://schemas.openxmlformats.org/drawingml/2006/main">
            <a:off x="762000" y="2229088"/>
            <a:ext cx="11179302" cy="698706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280E6-0D0F-4F92-B712-05500367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095500"/>
            <a:ext cx="525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What the heatmap says</a:t>
            </a:r>
          </a:p>
        </p:txBody>
      </p:sp>
      <p:sp>
        <p:nvSpPr>
          <p:cNvPr id="5" name="cohort-callouts">
            <a:extLst xmlns:a="http://schemas.openxmlformats.org/drawingml/2006/main">
              <a:ext uri="{FF2B5EF4-FFF2-40B4-BE49-F238E27FC236}">
                <a16:creationId xmlns:a16="http://schemas.microsoft.com/office/drawing/2014/main" id="{5051E711-B430-4DB7-8A2E-CD492E4E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495550"/>
            <a:ext cx="525780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Month-two retention commonly lands in the high teens to mid-thirties rather than staying near the acquisition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Stronger early cohorts can still hold roughly 30% to 50% retention deeper into their lifecycle, proving that better outcomes are achievable.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The commercial opportunity is not only to win back old customers, but to stop newer cohorts from cooling off so quickly after the first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D5D46-B780-46C2-B51F-D2F9FB43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715000"/>
            <a:ext cx="525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Recommended focus</a:t>
            </a:r>
          </a:p>
        </p:txBody>
      </p:sp>
      <p:sp>
        <p:nvSpPr>
          <p:cNvPr id="7" name="cohort-actions">
            <a:extLst xmlns:a="http://schemas.openxmlformats.org/drawingml/2006/main">
              <a:ext uri="{FF2B5EF4-FFF2-40B4-BE49-F238E27FC236}">
                <a16:creationId xmlns:a16="http://schemas.microsoft.com/office/drawing/2014/main" id="{20167652-0AF8-4FD6-BC6E-953E1D1B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096000"/>
            <a:ext cx="52578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• second-purchase offers</a:t>
            </a:r>
          </a:p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• post-purchase replenishment journeys</a:t>
            </a:r>
          </a:p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• product-category based follow-ups within 30 to 60 days</a:t>
            </a:r>
          </a:p>
        </p:txBody>
      </p:sp>
      <p:sp>
        <p:nvSpPr>
          <p:cNvPr id="8" name="source-rail">
            <a:extLst xmlns:a="http://schemas.openxmlformats.org/drawingml/2006/main">
              <a:ext uri="{FF2B5EF4-FFF2-40B4-BE49-F238E27FC236}">
                <a16:creationId xmlns:a16="http://schemas.microsoft.com/office/drawing/2014/main" id="{24339FFA-401E-4289-99CC-D7B0DFF9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821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3"/>
                </a:solidFill>
              </a:defRPr>
            </a:pPr>
            <a:r>
              <a:rPr sz="900">
                <a:solidFill>
                  <a:srgbClr val="526173"/>
                </a:solidFill>
              </a:rPr>
              <a:t>Source: rfm_analysis.ipynb, reports/figures/cohort_retention_heatmap_optimized.png</a:t>
            </a:r>
          </a:p>
        </p:txBody>
      </p:sp>
    </p:spTree>
    <p:extLst>
      <p:ext uri="{BB962C8B-B14F-4D97-AF65-F5344CB8AC3E}">
        <p14:creationId xmlns:p14="http://schemas.microsoft.com/office/powerpoint/2010/main" val="19582174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AA2A3D-F90D-4E07-BB0D-828334E7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5445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RFM Preparation Matters Because Customer Value Is Highly Skewed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FFD313-EECB-423D-8A02-743D52B8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3"/>
                </a:solidFill>
              </a:defRPr>
            </a:pPr>
            <a:r>
              <a:rPr sz="1800">
                <a:solidFill>
                  <a:srgbClr val="526173"/>
                </a:solidFill>
              </a:rPr>
              <a:t>The customer base is economically uneven. Without normalization, a small number of bulk buyers would dominate both segmentation and downstream model behavior.</a:t>
            </a:r>
          </a:p>
        </p:txBody>
      </p:sp>
      <p:pic>
        <p:nvPicPr>
          <p:cNvPr id="3" name="rfm-raw-distributi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f79ee7ed24d53"/>
          <a:stretch xmlns:a="http://schemas.openxmlformats.org/drawingml/2006/main"/>
        </p:blipFill>
        <p:spPr>
          <a:xfrm xmlns:a="http://schemas.openxmlformats.org/drawingml/2006/main">
            <a:off x="762000" y="2837815"/>
            <a:ext cx="7891272" cy="2192020"/>
          </a:xfrm>
          <a:prstGeom xmlns:a="http://schemas.openxmlformats.org/drawingml/2006/main" prst="rect">
            <a:avLst/>
          </a:prstGeom>
        </p:spPr>
      </p:pic>
      <p:pic>
        <p:nvPicPr>
          <p:cNvPr id="4" name="rfm-log-distributi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2d45dd7c344d5"/>
          <a:stretch xmlns:a="http://schemas.openxmlformats.org/drawingml/2006/main"/>
        </p:blipFill>
        <p:spPr>
          <a:xfrm xmlns:a="http://schemas.openxmlformats.org/drawingml/2006/main">
            <a:off x="762000" y="5390515"/>
            <a:ext cx="7891272" cy="219202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C0334-05EE-479A-A1B8-D46A68B1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3200"/>
            <a:ext cx="855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033"/>
                </a:solidFill>
              </a:defRPr>
            </a:pPr>
            <a:r>
              <a:rPr sz="4050" b="1">
                <a:solidFill>
                  <a:srgbClr val="122033"/>
                </a:solidFill>
              </a:rPr>
              <a:t>3,917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3318F-7F7B-4B6A-8356-E8F75583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09950"/>
            <a:ext cx="8553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customers in the RFM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76DE3-811F-43E4-95AE-95018240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29050"/>
            <a:ext cx="855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033"/>
                </a:solidFill>
              </a:defRPr>
            </a:pPr>
            <a:r>
              <a:rPr sz="4050" b="1">
                <a:solidFill>
                  <a:srgbClr val="122033"/>
                </a:solidFill>
              </a:rPr>
              <a:t>$17.28k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06890-AAC8-4F04-97E4-ABEF1F95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14850"/>
            <a:ext cx="8553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99th percentile monetary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82AD7-B3B9-4B58-AAF7-A51EE59A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33950"/>
            <a:ext cx="855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B7791F"/>
                </a:solidFill>
              </a:defRPr>
            </a:pPr>
            <a:r>
              <a:rPr sz="4050" b="1">
                <a:solidFill>
                  <a:srgbClr val="B7791F"/>
                </a:solidFill>
              </a:rPr>
              <a:t>$259.66k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F97B6-70E3-454D-B5FE-8BC803F5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00700"/>
            <a:ext cx="8553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maximum single-customer monetary value</a:t>
            </a:r>
          </a:p>
        </p:txBody>
      </p:sp>
      <p:sp>
        <p:nvSpPr>
          <p:cNvPr id="11" name="rfm-explanation">
            <a:extLst xmlns:a="http://schemas.openxmlformats.org/drawingml/2006/main">
              <a:ext uri="{FF2B5EF4-FFF2-40B4-BE49-F238E27FC236}">
                <a16:creationId xmlns:a16="http://schemas.microsoft.com/office/drawing/2014/main" id="{AEA9AF37-8E97-4557-B9BE-F7DFCD04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019800"/>
            <a:ext cx="8553450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Average monetary value is only $1,849, but the maximum customer value is more than fifteen times the 99th percentile.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Median recency is 51 days and median frequency is 2 orders, which confirms that most customers are not habitually 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Log transforms are therefore not cosmetic; they are necessary to make clustering and scoring stable enough to support decisions.</a:t>
            </a:r>
          </a:p>
        </p:txBody>
      </p:sp>
      <p:sp>
        <p:nvSpPr>
          <p:cNvPr id="12" name="source-rail">
            <a:extLst xmlns:a="http://schemas.openxmlformats.org/drawingml/2006/main">
              <a:ext uri="{FF2B5EF4-FFF2-40B4-BE49-F238E27FC236}">
                <a16:creationId xmlns:a16="http://schemas.microsoft.com/office/drawing/2014/main" id="{6DC13C81-2D20-4127-B750-D6BCAD37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821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3"/>
                </a:solidFill>
              </a:defRPr>
            </a:pPr>
            <a:r>
              <a:rPr sz="900">
                <a:solidFill>
                  <a:srgbClr val="526173"/>
                </a:solidFill>
              </a:rPr>
              <a:t>Source: rfm_analysis.ipynb, reports/figures/rfm_raw_distributions.png, reports/figures/rfm_log_distributions.png</a:t>
            </a:r>
          </a:p>
        </p:txBody>
      </p:sp>
    </p:spTree>
    <p:extLst>
      <p:ext uri="{BB962C8B-B14F-4D97-AF65-F5344CB8AC3E}">
        <p14:creationId xmlns:p14="http://schemas.microsoft.com/office/powerpoint/2010/main" val="19601437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0F239D-9233-41B9-B8BF-8013C7F6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8112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Segmentation Was Chosen for Business Use, Not Only Statistical Purity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4631FA-36FC-4055-90E3-C8C09656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337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3"/>
                </a:solidFill>
              </a:defRPr>
            </a:pPr>
            <a:r>
              <a:rPr sz="1800">
                <a:solidFill>
                  <a:srgbClr val="526173"/>
                </a:solidFill>
              </a:rPr>
              <a:t>The clustering exercise shows the best silhouette at k=2, but the project adopts four clusters because that gives the business more usable operational groups.</a:t>
            </a:r>
          </a:p>
        </p:txBody>
      </p:sp>
      <p:pic>
        <p:nvPicPr>
          <p:cNvPr id="3" name="kmeans-optimal-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33bdb6d074cd1"/>
          <a:stretch xmlns:a="http://schemas.openxmlformats.org/drawingml/2006/main"/>
        </p:blipFill>
        <p:spPr>
          <a:xfrm xmlns:a="http://schemas.openxmlformats.org/drawingml/2006/main">
            <a:off x="762000" y="4487736"/>
            <a:ext cx="9535287" cy="317842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05125-4B9A-43D3-B472-24002308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743200"/>
            <a:ext cx="6896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033"/>
                </a:solidFill>
              </a:defRPr>
            </a:pPr>
            <a:r>
              <a:rPr sz="4050" b="1">
                <a:solidFill>
                  <a:srgbClr val="122033"/>
                </a:solidFill>
              </a:rPr>
              <a:t>0.435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B9447-8263-4870-85D9-0D9348CC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099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silhouette score at k=2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272E8-8E9F-46B4-9182-11480D80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829050"/>
            <a:ext cx="6896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6B87"/>
                </a:solidFill>
              </a:defRPr>
            </a:pPr>
            <a:r>
              <a:rPr sz="4050" b="1">
                <a:solidFill>
                  <a:srgbClr val="176B87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A0DFC-F86D-4C38-BE46-0DDCA543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5148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chosen operational clusters</a:t>
            </a:r>
          </a:p>
        </p:txBody>
      </p:sp>
      <p:sp>
        <p:nvSpPr>
          <p:cNvPr id="8" name="segmentation-choice">
            <a:extLst xmlns:a="http://schemas.openxmlformats.org/drawingml/2006/main">
              <a:ext uri="{FF2B5EF4-FFF2-40B4-BE49-F238E27FC236}">
                <a16:creationId xmlns:a16="http://schemas.microsoft.com/office/drawing/2014/main" id="{D5BFE7EC-C322-480B-AB45-A7A2E00F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933950"/>
            <a:ext cx="6896100" cy="3295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The steep inertia decline from k=2 to k=4 suggests meaningful additional structure before returns diminish.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Moving from 2 to 4 clusters trades some statistical compactness for better commercial granularity.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That is a reasonable decision because retention teams need more than a binary split; they need distinct plays for protection, growth, nurture, and low-cost win-back.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The final segmentation assigns all 3,917 customers into four interpretable groups.</a:t>
            </a:r>
          </a:p>
        </p:txBody>
      </p:sp>
      <p:sp>
        <p:nvSpPr>
          <p:cNvPr id="9" name="source-rail">
            <a:extLst xmlns:a="http://schemas.openxmlformats.org/drawingml/2006/main">
              <a:ext uri="{FF2B5EF4-FFF2-40B4-BE49-F238E27FC236}">
                <a16:creationId xmlns:a16="http://schemas.microsoft.com/office/drawing/2014/main" id="{D3A78A2B-C048-412D-9AE1-FE690C82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821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3"/>
                </a:solidFill>
              </a:defRPr>
            </a:pPr>
            <a:r>
              <a:rPr sz="900">
                <a:solidFill>
                  <a:srgbClr val="526173"/>
                </a:solidFill>
              </a:rPr>
              <a:t>Source: Segmentation.ipynb, reports/figures/kmeans_optimal_k_evaluation.png</a:t>
            </a:r>
          </a:p>
        </p:txBody>
      </p:sp>
    </p:spTree>
    <p:extLst>
      <p:ext uri="{BB962C8B-B14F-4D97-AF65-F5344CB8AC3E}">
        <p14:creationId xmlns:p14="http://schemas.microsoft.com/office/powerpoint/2010/main" val="5886751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A528B4-4D4F-4952-B669-264DE801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9156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Segment Behavior Is Economically Distinct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5E6C15-74C0-425E-A86E-F8BF0D75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3487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3"/>
                </a:solidFill>
              </a:defRPr>
            </a:pPr>
            <a:r>
              <a:rPr sz="1800">
                <a:solidFill>
                  <a:srgbClr val="526173"/>
                </a:solidFill>
              </a:rPr>
              <a:t>The cluster profile work shows that the segments are not just mathematically separable; they represent genuinely different economic behaviors and lifecycle states.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76BA2-61FC-46D8-892B-D6ED1361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195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Champions: 11.5-day recency, 13.7 orders, $7.2k average spend. These are the customers to protect aggressively.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8279F-5730-40F9-90D3-AC13040E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40195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Loyal Base: 68.3-day recency, 4.2 orders, $1.7k average spend. This is the upgrade pool with real expansion potential.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072CF-CB8A-41D7-977D-5E0573C1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40195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Potential Loyals: 19.2-day recency, 2.1 orders, $519 average spend. They are early-stage customers that need habit formation.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B7D4B-3558-48D6-8DAE-D3BDAA3E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2095500"/>
            <a:ext cx="40195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Lost/Inactive: 183.2-day recency, 1.3 orders, $331 average spend. They are numerous, but should be approached with cost discipline.</a:t>
            </a:r>
          </a:p>
        </p:txBody>
      </p:sp>
      <p:pic>
        <p:nvPicPr>
          <p:cNvPr id="7" name="cluster-averag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e96a89ad649a4"/>
          <a:stretch xmlns:a="http://schemas.openxmlformats.org/drawingml/2006/main"/>
        </p:blipFill>
        <p:spPr>
          <a:xfrm xmlns:a="http://schemas.openxmlformats.org/drawingml/2006/main">
            <a:off x="4343400" y="3390900"/>
            <a:ext cx="9601200" cy="2667000"/>
          </a:xfrm>
          <a:prstGeom xmlns:a="http://schemas.openxmlformats.org/drawingml/2006/main" prst="rect">
            <a:avLst/>
          </a:prstGeom>
        </p:spPr>
      </p:pic>
      <p:pic>
        <p:nvPicPr>
          <p:cNvPr id="8" name="cluster-profil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73eddb91b4fdc"/>
          <a:stretch xmlns:a="http://schemas.openxmlformats.org/drawingml/2006/main"/>
        </p:blipFill>
        <p:spPr>
          <a:xfrm xmlns:a="http://schemas.openxmlformats.org/drawingml/2006/main">
            <a:off x="4857750" y="6229350"/>
            <a:ext cx="857250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source-rail">
            <a:extLst xmlns:a="http://schemas.openxmlformats.org/drawingml/2006/main">
              <a:ext uri="{FF2B5EF4-FFF2-40B4-BE49-F238E27FC236}">
                <a16:creationId xmlns:a16="http://schemas.microsoft.com/office/drawing/2014/main" id="{833E042B-2225-4A92-B3F0-158A37DB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821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3"/>
                </a:solidFill>
              </a:defRPr>
            </a:pPr>
            <a:r>
              <a:rPr sz="900">
                <a:solidFill>
                  <a:srgbClr val="526173"/>
                </a:solidFill>
              </a:rPr>
              <a:t>Source: Segmentation.ipynb, reports/figures/cluster_averages_barchart.png, reports/figures/kmeans_cluster_profiles.png</a:t>
            </a:r>
          </a:p>
        </p:txBody>
      </p:sp>
    </p:spTree>
    <p:extLst>
      <p:ext uri="{BB962C8B-B14F-4D97-AF65-F5344CB8AC3E}">
        <p14:creationId xmlns:p14="http://schemas.microsoft.com/office/powerpoint/2010/main" val="19684357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5E1EDD-A51E-44CB-81AA-FB549D6C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41922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The Largest Segment Is Not the Most Valuable Segment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8ED4A3D-9768-413A-812B-6937D8D1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337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3"/>
                </a:solidFill>
              </a:defRPr>
            </a:pPr>
            <a:r>
              <a:rPr sz="1800">
                <a:solidFill>
                  <a:srgbClr val="526173"/>
                </a:solidFill>
              </a:rPr>
              <a:t>Lost/Inactive customers form the biggest headcount block, but Champions and Loyal Base contain the majority of economic value. Budgeting should follow value, not just volume.</a:t>
            </a:r>
          </a:p>
        </p:txBody>
      </p:sp>
      <p:pic>
        <p:nvPicPr>
          <p:cNvPr id="3" name="cluster-size-distribu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041d5bb214811"/>
          <a:stretch xmlns:a="http://schemas.openxmlformats.org/drawingml/2006/main"/>
        </p:blipFill>
        <p:spPr>
          <a:xfrm xmlns:a="http://schemas.openxmlformats.org/drawingml/2006/main">
            <a:off x="762000" y="3607537"/>
            <a:ext cx="8548878" cy="51293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A9C64-AC24-4270-9758-D8BDEE3F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43200"/>
            <a:ext cx="7886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Implication for spend allocation</a:t>
            </a:r>
          </a:p>
        </p:txBody>
      </p:sp>
      <p:sp>
        <p:nvSpPr>
          <p:cNvPr id="5" name="value-allocation-bullets">
            <a:extLst xmlns:a="http://schemas.openxmlformats.org/drawingml/2006/main">
              <a:ext uri="{FF2B5EF4-FFF2-40B4-BE49-F238E27FC236}">
                <a16:creationId xmlns:a16="http://schemas.microsoft.com/office/drawing/2014/main" id="{9A34C7CF-9F7A-4CBB-AAA8-2A266020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24200"/>
            <a:ext cx="788670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Lost/Inactive contains 1,461 customers, but their combined value pool is only about $0.48M using average spend x customer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Champions are only 630 customers, yet they represent an estimated $4.54M pool, making them the most important retention asset.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Loyal Base adds another ~$1.82M pool and is the best segment for upsell, loyalty migration, and frequency-building tactics.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Potential Loyals are smaller economically today, but they are the cheapest segment to shape through onboarding and second-order nudges.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75DF9-8537-40C5-892D-DF272602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05550"/>
            <a:ext cx="7886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Recommended budget split</a:t>
            </a:r>
          </a:p>
        </p:txBody>
      </p:sp>
      <p:sp>
        <p:nvSpPr>
          <p:cNvPr id="7" name="budget-split">
            <a:extLst xmlns:a="http://schemas.openxmlformats.org/drawingml/2006/main">
              <a:ext uri="{FF2B5EF4-FFF2-40B4-BE49-F238E27FC236}">
                <a16:creationId xmlns:a16="http://schemas.microsoft.com/office/drawing/2014/main" id="{2A826A80-0FA7-4D01-B1D9-EC5C6DB1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686550"/>
            <a:ext cx="78867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• Protect / expand Champions first</a:t>
            </a:r>
          </a:p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• Move Loyal Base toward Champion behavior second</a:t>
            </a:r>
          </a:p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• Nurture Potential Loyals through habit-building</a:t>
            </a:r>
          </a:p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• Keep Lost/Inactive win-back low-cost and tightly tested</a:t>
            </a:r>
          </a:p>
        </p:txBody>
      </p:sp>
      <p:sp>
        <p:nvSpPr>
          <p:cNvPr id="8" name="source-rail">
            <a:extLst xmlns:a="http://schemas.openxmlformats.org/drawingml/2006/main">
              <a:ext uri="{FF2B5EF4-FFF2-40B4-BE49-F238E27FC236}">
                <a16:creationId xmlns:a16="http://schemas.microsoft.com/office/drawing/2014/main" id="{4D2E6F66-5F95-4A32-9ABE-41B629BC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821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3"/>
                </a:solidFill>
              </a:defRPr>
            </a:pPr>
            <a:r>
              <a:rPr sz="900">
                <a:solidFill>
                  <a:srgbClr val="526173"/>
                </a:solidFill>
              </a:rPr>
              <a:t>Source: Segmentation.ipynb, reports/figures/cluster_size_distribution.png</a:t>
            </a:r>
          </a:p>
        </p:txBody>
      </p:sp>
    </p:spTree>
    <p:extLst>
      <p:ext uri="{BB962C8B-B14F-4D97-AF65-F5344CB8AC3E}">
        <p14:creationId xmlns:p14="http://schemas.microsoft.com/office/powerpoint/2010/main" val="14578030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6906B9-CA8E-4A47-BB69-2B0C7F7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1633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The Churn Model Is Directionally Useful and Operationally Practical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A7E2BC0-617B-4809-BEDB-541325D5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4039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3"/>
                </a:solidFill>
              </a:defRPr>
            </a:pPr>
            <a:r>
              <a:rPr sz="1800">
                <a:solidFill>
                  <a:srgbClr val="526173"/>
                </a:solidFill>
              </a:rPr>
              <a:t>The final churn model adds RFM score features to the log-transformed base and improves ranking quality enough to support prioritization workflows.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4E77A-A752-429B-80F9-A13021BA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7562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6B87"/>
                </a:solidFill>
              </a:defRPr>
            </a:pPr>
            <a:r>
              <a:rPr sz="4050" b="1">
                <a:solidFill>
                  <a:srgbClr val="176B87"/>
                </a:solidFill>
              </a:rPr>
              <a:t>0.713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92DD3-0076-4A8F-9E4C-6E6D8652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7562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final ROC-AUC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F4EAE-3DA5-45D4-899B-A3484E2C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7562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033"/>
                </a:solidFill>
              </a:defRPr>
            </a:pPr>
            <a:r>
              <a:rPr sz="4050" b="1">
                <a:solidFill>
                  <a:srgbClr val="122033"/>
                </a:solidFill>
              </a:rPr>
              <a:t>0.66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F9137-BEDC-4FD8-821A-38697EE4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562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final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32299-34E2-43EF-9222-6D9DA146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7562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B7791F"/>
                </a:solidFill>
              </a:defRPr>
            </a:pPr>
            <a:r>
              <a:rPr sz="4050" b="1">
                <a:solidFill>
                  <a:srgbClr val="B7791F"/>
                </a:solidFill>
              </a:rPr>
              <a:t>0.55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B4681-06E8-4824-BA55-18DC173F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7562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recall on churned customers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858D3-7510-414B-9AB7-B53384C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7562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033"/>
                </a:solidFill>
              </a:defRPr>
            </a:pPr>
            <a:r>
              <a:rPr sz="4050" b="1">
                <a:solidFill>
                  <a:srgbClr val="122033"/>
                </a:solidFill>
              </a:rPr>
              <a:t>+0.005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45D13-D8C8-43B4-9CA2-5BBDE7F3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7562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73"/>
                </a:solidFill>
              </a:defRPr>
            </a:pPr>
            <a:r>
              <a:rPr sz="1500">
                <a:solidFill>
                  <a:srgbClr val="526173"/>
                </a:solidFill>
              </a:rPr>
              <a:t>ROC-AUC lift vs simpler feature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2F19D-F4DE-40EA-95B0-B604E927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885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Business reading of model quality</a:t>
            </a:r>
          </a:p>
        </p:txBody>
      </p:sp>
      <p:sp>
        <p:nvSpPr>
          <p:cNvPr id="12" name="churn-reading">
            <a:extLst xmlns:a="http://schemas.openxmlformats.org/drawingml/2006/main">
              <a:ext uri="{FF2B5EF4-FFF2-40B4-BE49-F238E27FC236}">
                <a16:creationId xmlns:a16="http://schemas.microsoft.com/office/drawing/2014/main" id="{8F332742-28AD-41F9-914B-DBBB3F6C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8858250" cy="3581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This is a prioritization model, not a fully automated decision engine. It is strong enough to rank customers for intervention and suppress low-value blanket outreach.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Class-1 recall around 0.55 means the model will miss some true churners, so it should sit inside a rules-based workflow rather than replace human judgement outright.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Because the application also uses monetary value to assign intervention classes, the model is most useful when paired with commercial value thresholds.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The operational sweet spot is to use the churn score to decide who receives expensive save motions, who receives nurture messaging, and who receives low-cost treatment only.</a:t>
            </a:r>
          </a:p>
        </p:txBody>
      </p:sp>
      <p:sp>
        <p:nvSpPr>
          <p:cNvPr id="13" name="source-rail">
            <a:extLst xmlns:a="http://schemas.openxmlformats.org/drawingml/2006/main">
              <a:ext uri="{FF2B5EF4-FFF2-40B4-BE49-F238E27FC236}">
                <a16:creationId xmlns:a16="http://schemas.microsoft.com/office/drawing/2014/main" id="{6215E8B9-C284-4839-89C2-D1304AB0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821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3"/>
                </a:solidFill>
              </a:defRPr>
            </a:pPr>
            <a:r>
              <a:rPr sz="900">
                <a:solidFill>
                  <a:srgbClr val="526173"/>
                </a:solidFill>
              </a:rPr>
              <a:t>Source: churn_prediction.ipynb</a:t>
            </a:r>
          </a:p>
        </p:txBody>
      </p:sp>
    </p:spTree>
    <p:extLst>
      <p:ext uri="{BB962C8B-B14F-4D97-AF65-F5344CB8AC3E}">
        <p14:creationId xmlns:p14="http://schemas.microsoft.com/office/powerpoint/2010/main" val="1654546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F2D840-229D-4BA2-911E-E62255F7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88011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Recommended Segment Playbook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71A7237-6C68-4D4E-9649-F2D4A32D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337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3"/>
                </a:solidFill>
              </a:defRPr>
            </a:pPr>
            <a:r>
              <a:rPr sz="1800">
                <a:solidFill>
                  <a:srgbClr val="526173"/>
                </a:solidFill>
              </a:rPr>
              <a:t>Retention strategy should be intentionally uneven. The right action depends on whether the segment carries near-term value, future potential, or low-return reactivation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52CCB-2397-47CE-B43E-EAACF202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Segment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4C517-785C-4C3E-A6C4-0E34860A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4320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Commercial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36B76-40AC-4C9A-BD93-77ECA18A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432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Recommended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94244-1DE2-4F44-B90B-49457D4B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274320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Primary KPI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1903A-8A44-45EA-AC79-9397BF72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76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CE6A2-2D43-4788-92B6-2DBABC1A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Champions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730A5-E143-473C-B520-C1F71E8E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14700"/>
            <a:ext cx="400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Protect revenue and defend relationship depth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59CE3-A736-46FE-BACE-BC432866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6667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VIP treatment, early-access launches, replenishment reminders, concierge support, and churn-score based save outreach only when risk rises materially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F33E5-3DC5-4605-9E53-8A2E6694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314700"/>
            <a:ext cx="320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retention of top-value accounts, average order frequency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972FF-28A5-43EA-B575-F1B418A8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676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F74AC-1066-41FA-953C-9DFC5157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Loyal 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49197-1807-4342-BD88-2745F6B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386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Increase frequency and basket depth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4B509-DEA0-4F94-9B87-F0F73DC0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38650"/>
            <a:ext cx="666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Loyalty tiers, bundle offers, category cross-sell, and midweek re-engagement campaigns aligned to known order windows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FBC3E-3679-4734-93C8-623EE253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4438650"/>
            <a:ext cx="320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orders per customer, average basket 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DC428-9D32-4F5C-B7AF-107060C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676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230BA-00E9-4888-9968-68622A8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Potential Loyals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DF913-83AE-4DEE-9DC8-61077F71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768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Convert into habitual repeat buyers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87E33-43CB-4BEC-A9E8-4EEF3846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276850"/>
            <a:ext cx="6667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second-purchase incentives, onboarding journeys, timed reminders within 30 to 60 days, and low-friction product education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103B4-B416-49F6-8EA2-FE61BB09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5276850"/>
            <a:ext cx="320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second-order conversion, 60-day repeat 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2976B-F77E-4672-BBBE-A30847C5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0300"/>
            <a:ext cx="1676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550C1-355F-45C4-9243-225DE3B8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Lost / Inactive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CD69A-9170-4BC6-A79F-D9122DEB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400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Recover selectively without over-spending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5852E6-8DFB-426D-B0C2-AF00B30B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400800"/>
            <a:ext cx="6667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low-cost win-back tests, category-specific offers, suppression after non-response, and do-not-discount rules for chronically low-value profiles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0530C5-7462-46CC-BCC9-1CDAEBF0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6400800"/>
            <a:ext cx="320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</a:defRPr>
            </a:pPr>
            <a:r>
              <a:rPr sz="1650">
                <a:solidFill>
                  <a:srgbClr val="526173"/>
                </a:solidFill>
              </a:rPr>
              <a:t>reactivation rate, cost per reactivated customer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10CCB7-C6B5-404A-A8FF-5479B0E4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676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28" name="source-rail">
            <a:extLst xmlns:a="http://schemas.openxmlformats.org/drawingml/2006/main">
              <a:ext uri="{FF2B5EF4-FFF2-40B4-BE49-F238E27FC236}">
                <a16:creationId xmlns:a16="http://schemas.microsoft.com/office/drawing/2014/main" id="{9EC70465-EC95-4D8F-A665-5861ACB6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821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3"/>
                </a:solidFill>
              </a:defRPr>
            </a:pPr>
            <a:r>
              <a:rPr sz="900">
                <a:solidFill>
                  <a:srgbClr val="526173"/>
                </a:solidFill>
              </a:rPr>
              <a:t>Source: eda.ipynb, rfm_analysis.ipynb, Segmentation.ipynb, churn_prediction.ipynb</a:t>
            </a:r>
          </a:p>
        </p:txBody>
      </p:sp>
    </p:spTree>
    <p:extLst>
      <p:ext uri="{BB962C8B-B14F-4D97-AF65-F5344CB8AC3E}">
        <p14:creationId xmlns:p14="http://schemas.microsoft.com/office/powerpoint/2010/main" val="2380525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C5DE53-ADC8-4AF5-A258-56F06C3A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71818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90-Day Implementation Plan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9626D5D-31D2-403A-995F-E2593F26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3277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3"/>
                </a:solidFill>
              </a:defRPr>
            </a:pPr>
            <a:r>
              <a:rPr sz="1800">
                <a:solidFill>
                  <a:srgbClr val="526173"/>
                </a:solidFill>
              </a:rPr>
              <a:t>The project is ready to move from analysis into an operating decision layer. The first quarter should focus on campaign integration, measurement discipline, and controlled rollout.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D8E62-78BE-4CAA-BDFA-798E56BA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535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Days 1-30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0860D-2E8F-4E99-A71E-8A2031CF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53530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deploy the scoring app to Render or Railway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finalize data refresh cadence for RFM inputs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define business thresholds for Save, Protect, Maintain, and low-cost win-back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launch dashboarding for churn score distribution, segment mix, and cohort retention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554E0-2C8E-42DC-A26C-B0F0ED4B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535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Days 31-60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E301E-2964-4EF3-B609-FAB6113C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24200"/>
            <a:ext cx="535305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run targeted campaigns for Champions, Loyal Base, and Potential Loyals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test low-cost win-back treatments on Lost/Inactive cohorts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compare midweek and midday send windows against current campaign baselines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measure second-order conversion and early repeat lift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F7F85-25A0-4692-8148-821FED12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743200"/>
            <a:ext cx="552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Days 61-90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0C983-53FD-4329-B8AA-EE1580A5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124200"/>
            <a:ext cx="552450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review model lift by segment and customer value band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tighten suppression rules for low-return reactivation attempts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refresh the models if new performance data exposes drift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• turn the strongest interventions into standard CRM journeys before the next seasonal peak</a:t>
            </a:r>
          </a:p>
        </p:txBody>
      </p:sp>
      <p:sp>
        <p:nvSpPr>
          <p:cNvPr id="9" name="source-rail">
            <a:extLst xmlns:a="http://schemas.openxmlformats.org/drawingml/2006/main">
              <a:ext uri="{FF2B5EF4-FFF2-40B4-BE49-F238E27FC236}">
                <a16:creationId xmlns:a16="http://schemas.microsoft.com/office/drawing/2014/main" id="{C5F2DB3A-1834-4E32-8D64-C0FF2986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821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3"/>
                </a:solidFill>
              </a:defRPr>
            </a:pPr>
            <a:r>
              <a:rPr sz="900">
                <a:solidFill>
                  <a:srgbClr val="526173"/>
                </a:solidFill>
              </a:rPr>
              <a:t>Source: Project recommendation based on notebooks and deployed application behavior</a:t>
            </a:r>
          </a:p>
        </p:txBody>
      </p:sp>
    </p:spTree>
    <p:extLst>
      <p:ext uri="{BB962C8B-B14F-4D97-AF65-F5344CB8AC3E}">
        <p14:creationId xmlns:p14="http://schemas.microsoft.com/office/powerpoint/2010/main" val="1926553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2026-04-28T12:02:50.2050000Z</dcterms:created>
  <dcterms:modified xsi:type="dcterms:W3CDTF">2026-04-28T12:02:50.2050000Z</dcterms:modified>
</coreProperties>
</file>